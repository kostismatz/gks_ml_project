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6" r:id="rId18"/>
    <p:sldId id="272" r:id="rId19"/>
    <p:sldId id="273" r:id="rId20"/>
    <p:sldId id="274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81" d="100"/>
          <a:sy n="181" d="100"/>
        </p:scale>
        <p:origin x="18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780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64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Urban Sound Classification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Feature-Based Machine Learning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in Artificial Intelligence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Piraeus &amp; NCSR Demokritos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Kostis Matzorakis, George Manthos, Spiros Batziopoulos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 &amp; Motivation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Automatic classification of urban sound excerpts into 10 predefined categories using supervised machine learning with handcrafted audio features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noise monitoring &amp; classification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9" name="Text 7"/>
          <p:cNvSpPr/>
          <p:nvPr/>
        </p:nvSpPr>
        <p:spPr>
          <a:xfrm>
            <a:off x="1005840" y="2907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applications (automated event detection)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11" name="Text 9"/>
          <p:cNvSpPr/>
          <p:nvPr/>
        </p:nvSpPr>
        <p:spPr>
          <a:xfrm>
            <a:off x="1005840" y="32735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safety (gunshot detection, alerts)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13" name="Text 11"/>
          <p:cNvSpPr/>
          <p:nvPr/>
        </p:nvSpPr>
        <p:spPr>
          <a:xfrm>
            <a:off x="1005840" y="3639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baseline for feature-based vs deep learning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Feature-Based ML?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46320" y="256032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16" name="Text 14"/>
          <p:cNvSpPr/>
          <p:nvPr/>
        </p:nvSpPr>
        <p:spPr>
          <a:xfrm>
            <a:off x="5029200" y="25420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Interpretable: Features map to acoustic properties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9260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18" name="Text 16"/>
          <p:cNvSpPr/>
          <p:nvPr/>
        </p:nvSpPr>
        <p:spPr>
          <a:xfrm>
            <a:off x="5029200" y="29077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efficient: Works with smaller datasets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29184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20" name="Text 18"/>
          <p:cNvSpPr/>
          <p:nvPr/>
        </p:nvSpPr>
        <p:spPr>
          <a:xfrm>
            <a:off x="5029200" y="32735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resource: No GPU, faster experimentation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36576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22" name="Text 20"/>
          <p:cNvSpPr/>
          <p:nvPr/>
        </p:nvSpPr>
        <p:spPr>
          <a:xfrm>
            <a:off x="5029200" y="36393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Fixed pipeline, standard libraries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UrbanSound8K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1737360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8,732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Samples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1737360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7" name="Text 5"/>
          <p:cNvSpPr/>
          <p:nvPr/>
        </p:nvSpPr>
        <p:spPr>
          <a:xfrm>
            <a:off x="2743200" y="1371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Classes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280160"/>
            <a:ext cx="1737360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10" name="Text 8"/>
          <p:cNvSpPr/>
          <p:nvPr/>
        </p:nvSpPr>
        <p:spPr>
          <a:xfrm>
            <a:off x="4572000" y="1371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≤4s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Duration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280160"/>
            <a:ext cx="1737360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13" name="Text 11"/>
          <p:cNvSpPr/>
          <p:nvPr/>
        </p:nvSpPr>
        <p:spPr>
          <a:xfrm>
            <a:off x="6400800" y="1371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Folds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468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Urban Sound Classes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292608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17" name="Text 15"/>
          <p:cNvSpPr/>
          <p:nvPr/>
        </p:nvSpPr>
        <p:spPr>
          <a:xfrm>
            <a:off x="1234440" y="2926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Conditioner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32461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19" name="Text 17"/>
          <p:cNvSpPr/>
          <p:nvPr/>
        </p:nvSpPr>
        <p:spPr>
          <a:xfrm>
            <a:off x="1234440" y="3246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Horn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35661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21" name="Text 19"/>
          <p:cNvSpPr/>
          <p:nvPr/>
        </p:nvSpPr>
        <p:spPr>
          <a:xfrm>
            <a:off x="1234440" y="3566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Playing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" y="38862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23" name="Text 21"/>
          <p:cNvSpPr/>
          <p:nvPr/>
        </p:nvSpPr>
        <p:spPr>
          <a:xfrm>
            <a:off x="1234440" y="3886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Bark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42062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25" name="Text 23"/>
          <p:cNvSpPr/>
          <p:nvPr/>
        </p:nvSpPr>
        <p:spPr>
          <a:xfrm>
            <a:off x="1234440" y="4206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292608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27" name="Text 25"/>
          <p:cNvSpPr/>
          <p:nvPr/>
        </p:nvSpPr>
        <p:spPr>
          <a:xfrm>
            <a:off x="5166360" y="2926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Idling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24612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29" name="Text 27"/>
          <p:cNvSpPr/>
          <p:nvPr/>
        </p:nvSpPr>
        <p:spPr>
          <a:xfrm>
            <a:off x="5166360" y="3246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 Shot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356616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31" name="Text 29"/>
          <p:cNvSpPr/>
          <p:nvPr/>
        </p:nvSpPr>
        <p:spPr>
          <a:xfrm>
            <a:off x="5166360" y="3566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Jackhammer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388620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33" name="Text 31"/>
          <p:cNvSpPr/>
          <p:nvPr/>
        </p:nvSpPr>
        <p:spPr>
          <a:xfrm>
            <a:off x="5166360" y="3886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0" y="4206240"/>
            <a:ext cx="228600" cy="2286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35" name="Text 33"/>
          <p:cNvSpPr/>
          <p:nvPr/>
        </p:nvSpPr>
        <p:spPr>
          <a:xfrm>
            <a:off x="5166360" y="4206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Music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Pipeline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Standardize all audio inputs to ensure features are comparable across files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5" name="Text 3"/>
          <p:cNvSpPr/>
          <p:nvPr/>
        </p:nvSpPr>
        <p:spPr>
          <a:xfrm>
            <a:off x="914400" y="15361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Resampling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Various sample rates → 16 kHz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Standard rate for audio ML  |  16 kHz captures frequencies up to 8 kHz (Nyquist), sufficient for speech and environmental sounds while reducing computational cost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7680960" cy="1051560"/>
          </a:xfrm>
          <a:prstGeom prst="rect">
            <a:avLst/>
          </a:prstGeom>
          <a:solidFill>
            <a:srgbClr val="F7F9F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9" name="Text 7"/>
          <p:cNvSpPr/>
          <p:nvPr/>
        </p:nvSpPr>
        <p:spPr>
          <a:xfrm>
            <a:off x="914400" y="26791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Peak Normalization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amplitude → [-1, 1] range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154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Remove volume bias  |  Divide by max absolute value. Prevents model from learning recording volume instead of sound content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7680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13" name="Text 11"/>
          <p:cNvSpPr/>
          <p:nvPr/>
        </p:nvSpPr>
        <p:spPr>
          <a:xfrm>
            <a:off x="914400" y="38221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Length Normalization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0690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duration (0-4s) → Fixed 4 seconds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297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Consistent feature vectors  |  Pad with zeros if shorter, truncate if longer. Required for fixed-size feature extraction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Extraction: Theory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Features? Measurable properties that transform raw audio waveforms into numerical representations that machine learning algorithms can process. Good features capture relevant patterns while discarding noise.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Handcrafted Features?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Encode domain knowledge about audio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data-efficient than raw waveforms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Interpretable: each feature has meaning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Computationally efficient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End-to-end deep learning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features automatically from raw audio but requires large datasets, GPUs, and lacks interpretability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2011680"/>
            <a:ext cx="365760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8" name="Text 6"/>
          <p:cNvSpPr/>
          <p:nvPr/>
        </p:nvSpPr>
        <p:spPr>
          <a:xfrm>
            <a:off x="4937760" y="2194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Process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5603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Signal (waveform)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274320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29260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Frame-based Analysis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31089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(sliding window)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32918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34747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Computation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65760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frame)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8404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40233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42062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(mean &amp; std over time)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MFCCs: Mel-Frequency Cepstral Coefficients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MFCCs?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widely used features in audio ML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Convert to mel-scale (mimics human ear)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Take logarithm (compress dynamic range)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Apply DCT (decorrelate coefficients)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Compact representation of spectral envelope → captures timbre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config: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13 coefficients per frame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FFT: 2048, Hop: 512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Aggregate: mean &amp; std → 26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02C39A">
              <a:alpha val="90000"/>
            </a:srgbClr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7" name="Text 5"/>
          <p:cNvSpPr/>
          <p:nvPr/>
        </p:nvSpPr>
        <p:spPr>
          <a:xfrm>
            <a:off x="493776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MFCCs Work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Perceptually Motivated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2057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scale matches human hearing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2468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2697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coefficients capture spectral shape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31089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3337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sensitive to noise than raw spectrum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7490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3977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State-of-art for speech &amp; audio tasks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840480"/>
            <a:ext cx="3657600" cy="5486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17" name="Text 15"/>
          <p:cNvSpPr/>
          <p:nvPr/>
        </p:nvSpPr>
        <p:spPr>
          <a:xfrm>
            <a:off x="4846320" y="3931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'xgb' feature set: Add Δ and ΔΔ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(1st and 2nd derivatives → temporal dynamics)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Spectral Features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4" name="Text 2"/>
          <p:cNvSpPr/>
          <p:nvPr/>
        </p:nvSpPr>
        <p:spPr>
          <a:xfrm>
            <a:off x="914400" y="12618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Centroid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0" y="12618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&amp; std across frames → 2 features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Center of mass of spectrum  |  Why: Indicates 'brightness' of sound  |  When: Differentiates bright (cymbals) vs dark (bass) sounds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7680960" cy="822960"/>
          </a:xfrm>
          <a:prstGeom prst="rect">
            <a:avLst/>
          </a:prstGeom>
          <a:solidFill>
            <a:srgbClr val="F7F9F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8" name="Text 6"/>
          <p:cNvSpPr/>
          <p:nvPr/>
        </p:nvSpPr>
        <p:spPr>
          <a:xfrm>
            <a:off x="914400" y="21762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Rolloff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1762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&amp; std → 2 features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Frequency below which 85% of energy lies  |  Why: Distinguishes tonal vs noisy sounds  |  When: High for noisy sounds (drilling), low for tonal (music)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7680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12" name="Text 10"/>
          <p:cNvSpPr/>
          <p:nvPr/>
        </p:nvSpPr>
        <p:spPr>
          <a:xfrm>
            <a:off x="914400" y="30906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Zero-Crossing Rate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30906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&amp; std → 2 features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How often signal changes sign  |  Why: Correlates with noisiness  |  When: High for percussive/noisy (jackhammer), low for tonal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solidFill>
            <a:srgbClr val="F7F9F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16" name="Text 14"/>
          <p:cNvSpPr/>
          <p:nvPr/>
        </p:nvSpPr>
        <p:spPr>
          <a:xfrm>
            <a:off x="914400" y="40050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Contrast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40050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bands × 2 stats → 14 features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Difference between peaks and valleys in sub-bands  |  Why: Captures harmonic vs noisy structure  |  When: Different for music vs machinery sounds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Sets &amp; Caching Optimization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Feature Configurations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3291840" cy="14630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(46 dims)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MFCCs (mean+std): 26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Spectral features: 20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baseline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291840" cy="1463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8" name="Text 6"/>
          <p:cNvSpPr/>
          <p:nvPr/>
        </p:nvSpPr>
        <p:spPr>
          <a:xfrm>
            <a:off x="4572000" y="1691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(~100 dims)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011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Baseline: 46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Delta MFCCs: 26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Delta-Delta: 26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Log-Mel: 2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context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200399"/>
            <a:ext cx="7680960" cy="1319561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 Caching System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Feature extraction is computationally expensive (~8,700 files × multiple experiments)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Cache extracted features on disk with MD5 hash keys based on: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 path + Feature set + Extraction parameters (n_mfcc, n_fft, hop_length)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10-100× speedup on repeated experiments. Essential for hyperparameter tuning!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algorithms covering linear, tree-based, kernel, and neural approaches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1: Logistic Regression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8404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classifier extended to multi-class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Learns linear decision boundaries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One-vs-rest: 10 binary classifiers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Outputs class probabilities via softmax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 training &amp; prediction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Interpretable (feature weights)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Probabilistic outputs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Assumes linear separability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Can't capture complex patterns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657600" cy="3291840"/>
          </a:xfrm>
          <a:prstGeom prst="rect">
            <a:avLst/>
          </a:prstGeom>
          <a:solidFill>
            <a:srgbClr val="02C39A">
              <a:alpha val="90000"/>
            </a:srgbClr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7" name="Text 5"/>
          <p:cNvSpPr/>
          <p:nvPr/>
        </p:nvSpPr>
        <p:spPr>
          <a:xfrm>
            <a:off x="493776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 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Baseline model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model to try (fast)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 interpretability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Resource-constrained deployment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max_iter: 1000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random_state: 42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performance: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model (~60-65% accuracy)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extremely fast and interpretable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2: Random Forest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8404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Bootstrap aggregating (bagging)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many trees on random subsets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tree votes on final prediction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overfitting via averaging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non-linear patterns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Captures feature interactions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importance scores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Robust to outliers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be slow on large datasets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657600" cy="3291840"/>
          </a:xfrm>
          <a:prstGeom prst="rect">
            <a:avLst/>
          </a:prstGeom>
          <a:solidFill>
            <a:srgbClr val="02C39A">
              <a:alpha val="90000"/>
            </a:srgbClr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7" name="Text 5"/>
          <p:cNvSpPr/>
          <p:nvPr/>
        </p:nvSpPr>
        <p:spPr>
          <a:xfrm>
            <a:off x="493776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 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Non-linear baseline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 non-linear decision boundaries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Want feature importance analysis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Moderate dataset size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n_estimators: 200 trees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max_depth: 20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min_samples_split: 5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performance: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(~68-73% accuracy)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non-linear baseline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3: </a:t>
            </a:r>
            <a:r>
              <a:rPr lang="en-US" sz="4000" b="1" dirty="0" err="1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840480" cy="32918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Gradient Boosting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Sequential tree building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tree corrects previous errors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Gradient descent optimization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Regularization prevents overfitting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State-of-art on tabular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Built-in regularization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missing values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 processing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dominant?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most Kaggle competitions!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657600" cy="329184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7" name="Text 5"/>
          <p:cNvSpPr/>
          <p:nvPr/>
        </p:nvSpPr>
        <p:spPr>
          <a:xfrm>
            <a:off x="493776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 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PRIMARY MODEL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Tabular/feature-based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 best performance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Medium to large datasets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n_estimators: 400 trees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learning_rate: 0.05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max_depth: 6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subsample: 0.9 (90% data per tree)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performance: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(~73-78% accuracy)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4 &amp; 5: SVM and MLP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(Support Vector Machine)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Kernel-based classifier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RBF kernel maps to high-dim 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Finds maximum-margin boundaries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Complex, non-linear patterns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Medium datasets (&lt;100k samples)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kernel: RBF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C: 10 (regularization)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~70-75% accuracy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02C39A">
              <a:alpha val="90000"/>
            </a:srgbClr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7" name="Text 5"/>
          <p:cNvSpPr/>
          <p:nvPr/>
        </p:nvSpPr>
        <p:spPr>
          <a:xfrm>
            <a:off x="493776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(Multi-Layer Perceptron)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Neural network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Layers: 128 → 64 → 10 neurons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ReLU activation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Learns hierarchical features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 datasets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Complex non-linear patterns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hidden_layers: (128, 64)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max_iter: 500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~65-72% accuracy</a:t>
            </a: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(Doesn't outperform XGBoost on features)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PROTOCOLS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two approaches to understand the impact of evaluation methodology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 1: Compliant (Recommended)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221337"/>
            <a:ext cx="7680960" cy="640080"/>
          </a:xfrm>
          <a:prstGeom prst="rect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Cross-Validation on UrbanSound8K Predefined Folds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Predefined Folds? The Data Leakage Problem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285999"/>
            <a:ext cx="3840480" cy="2152185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7" name="Text 5"/>
          <p:cNvSpPr/>
          <p:nvPr/>
        </p:nvSpPr>
        <p:spPr>
          <a:xfrm>
            <a:off x="914400" y="23055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excerpts from same recording share: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microphone &amp; environment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Similar background noise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 spectral properties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 → related excerpts in train AND test → model memorizes recording-specific patterns → inflated performance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286000"/>
            <a:ext cx="3657600" cy="2152184"/>
          </a:xfrm>
          <a:prstGeom prst="rect">
            <a:avLst/>
          </a:prstGeom>
          <a:solidFill>
            <a:srgbClr val="02C39A">
              <a:alpha val="90000"/>
            </a:srgbClr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10" name="Text 8"/>
          <p:cNvSpPr/>
          <p:nvPr/>
        </p:nvSpPr>
        <p:spPr>
          <a:xfrm>
            <a:off x="4937760" y="2305516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7432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folds ensure: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recording spans train &amp; test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True unseen sources in test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Publication-ready results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on 9 folds, test on 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Repeat 10 times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 mean ± std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CORRECT evaluation!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 2: Classical Random Split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57179" y="1327367"/>
            <a:ext cx="7680960" cy="427092"/>
          </a:xfrm>
          <a:prstGeom prst="rect">
            <a:avLst/>
          </a:prstGeom>
          <a:solidFill>
            <a:srgbClr val="64748B">
              <a:alpha val="50000"/>
            </a:srgbClr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ML Pipeline: Random 80/20 Train-Test Split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approach from ML textbooks: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Shuffle entire dataset randomly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Split: 80% train, 20% test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 on 80%, evaluate on 20%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Report single performance number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'normal' ML workflow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include 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22860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purposes: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 impact of data leakage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Demonstrate why evaluation matters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Educational: theory vs practice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performance than Protocol 1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...but misleading and not publication-ready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Protocol Comparison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1: Compliant (10-Fold CV, Predefined Folds)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76809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1828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1828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1828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0" y="1828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768096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13" name="Text 11"/>
          <p:cNvSpPr/>
          <p:nvPr/>
        </p:nvSpPr>
        <p:spPr>
          <a:xfrm>
            <a:off x="82296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73-78%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72-77%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7784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73-78%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72-77%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2468880"/>
            <a:ext cx="7680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19" name="Text 17"/>
          <p:cNvSpPr/>
          <p:nvPr/>
        </p:nvSpPr>
        <p:spPr>
          <a:xfrm>
            <a:off x="82296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70-75%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0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69-74%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70-75%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69-74%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2788920"/>
            <a:ext cx="7680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25" name="Text 23"/>
          <p:cNvSpPr/>
          <p:nvPr/>
        </p:nvSpPr>
        <p:spPr>
          <a:xfrm>
            <a:off x="82296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2788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68-73%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2788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67-72%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2788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68-73%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0880" y="2788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67-72%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3108960"/>
            <a:ext cx="7680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31" name="Text 29"/>
          <p:cNvSpPr/>
          <p:nvPr/>
        </p:nvSpPr>
        <p:spPr>
          <a:xfrm>
            <a:off x="82296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51760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65-72%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0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64-71%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77840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65-72%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40880" y="3108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64-71%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" y="3429000"/>
            <a:ext cx="7680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37" name="Text 35"/>
          <p:cNvSpPr/>
          <p:nvPr/>
        </p:nvSpPr>
        <p:spPr>
          <a:xfrm>
            <a:off x="82296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51760" y="3429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60-65%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0" y="3429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59-64%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77840" y="3429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60-65%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40880" y="3429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59-64%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2: Classical Random Split (Data Leakage??)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2296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651760" y="4343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82-87%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0" y="4343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81-86%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77840" y="4343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82-87%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040880" y="4343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81-86%</a:t>
            </a:r>
            <a:endParaRPr lang="en-US" sz="1000" dirty="0"/>
          </a:p>
        </p:txBody>
      </p:sp>
      <p:sp>
        <p:nvSpPr>
          <p:cNvPr id="56" name="Shape 39">
            <a:extLst>
              <a:ext uri="{FF2B5EF4-FFF2-40B4-BE49-F238E27FC236}">
                <a16:creationId xmlns:a16="http://schemas.microsoft.com/office/drawing/2014/main" id="{149C8975-2562-D128-D430-13601551E146}"/>
              </a:ext>
            </a:extLst>
          </p:cNvPr>
          <p:cNvSpPr/>
          <p:nvPr/>
        </p:nvSpPr>
        <p:spPr>
          <a:xfrm>
            <a:off x="731520" y="3931920"/>
            <a:ext cx="7680960" cy="274320"/>
          </a:xfrm>
          <a:prstGeom prst="rect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2809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2809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2809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performs best (~70%)  |   All models cluster around 67-70%  |   Standard deviations ~3-6%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GR" dirty="0"/>
          </a:p>
        </p:txBody>
      </p:sp>
    </p:spTree>
    <p:extLst>
      <p:ext uri="{BB962C8B-B14F-4D97-AF65-F5344CB8AC3E}">
        <p14:creationId xmlns:p14="http://schemas.microsoft.com/office/powerpoint/2010/main" val="3992030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Protocol Comparison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2: Classical Random Split (Data Leakage??)</a:t>
            </a:r>
            <a:endParaRPr lang="en-US" sz="1400" dirty="0"/>
          </a:p>
        </p:txBody>
      </p:sp>
      <p:sp>
        <p:nvSpPr>
          <p:cNvPr id="56" name="Shape 3">
            <a:extLst>
              <a:ext uri="{FF2B5EF4-FFF2-40B4-BE49-F238E27FC236}">
                <a16:creationId xmlns:a16="http://schemas.microsoft.com/office/drawing/2014/main" id="{469BA456-CB03-86A0-31E3-6B7D6CB42FB5}"/>
              </a:ext>
            </a:extLst>
          </p:cNvPr>
          <p:cNvSpPr/>
          <p:nvPr/>
        </p:nvSpPr>
        <p:spPr>
          <a:xfrm>
            <a:off x="731520" y="1737360"/>
            <a:ext cx="768096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8107F1E6-2870-1F4D-BE4D-FA4460D1615B}"/>
              </a:ext>
            </a:extLst>
          </p:cNvPr>
          <p:cNvSpPr/>
          <p:nvPr/>
        </p:nvSpPr>
        <p:spPr>
          <a:xfrm>
            <a:off x="82296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739A26BF-9BAC-EC01-06E3-15DE66A7B16F}"/>
              </a:ext>
            </a:extLst>
          </p:cNvPr>
          <p:cNvSpPr/>
          <p:nvPr/>
        </p:nvSpPr>
        <p:spPr>
          <a:xfrm>
            <a:off x="265176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DDB85647-CC8D-82B4-0F84-FD9322D961B1}"/>
              </a:ext>
            </a:extLst>
          </p:cNvPr>
          <p:cNvSpPr/>
          <p:nvPr/>
        </p:nvSpPr>
        <p:spPr>
          <a:xfrm>
            <a:off x="411480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FEBD355E-E460-0A29-DD33-F866C876FE64}"/>
              </a:ext>
            </a:extLst>
          </p:cNvPr>
          <p:cNvSpPr/>
          <p:nvPr/>
        </p:nvSpPr>
        <p:spPr>
          <a:xfrm>
            <a:off x="557784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147E56E0-2729-C81B-DF4D-55614E3B7256}"/>
              </a:ext>
            </a:extLst>
          </p:cNvPr>
          <p:cNvSpPr/>
          <p:nvPr/>
        </p:nvSpPr>
        <p:spPr>
          <a:xfrm>
            <a:off x="704088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62" name="Shape 9">
            <a:extLst>
              <a:ext uri="{FF2B5EF4-FFF2-40B4-BE49-F238E27FC236}">
                <a16:creationId xmlns:a16="http://schemas.microsoft.com/office/drawing/2014/main" id="{083CB90C-DD3C-BBB1-8331-E05EF47B7F74}"/>
              </a:ext>
            </a:extLst>
          </p:cNvPr>
          <p:cNvSpPr/>
          <p:nvPr/>
        </p:nvSpPr>
        <p:spPr>
          <a:xfrm>
            <a:off x="731520" y="2103120"/>
            <a:ext cx="7680960" cy="320040"/>
          </a:xfrm>
          <a:prstGeom prst="rect">
            <a:avLst/>
          </a:prstGeom>
          <a:solidFill>
            <a:srgbClr val="FF6B6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63" name="Text 10">
            <a:extLst>
              <a:ext uri="{FF2B5EF4-FFF2-40B4-BE49-F238E27FC236}">
                <a16:creationId xmlns:a16="http://schemas.microsoft.com/office/drawing/2014/main" id="{5744C542-C491-DF96-2C2B-CD9E6398FC74}"/>
              </a:ext>
            </a:extLst>
          </p:cNvPr>
          <p:cNvSpPr/>
          <p:nvPr/>
        </p:nvSpPr>
        <p:spPr>
          <a:xfrm>
            <a:off x="82296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AFB16B4E-DC60-346D-C51E-15A65EA790BA}"/>
              </a:ext>
            </a:extLst>
          </p:cNvPr>
          <p:cNvSpPr/>
          <p:nvPr/>
        </p:nvSpPr>
        <p:spPr>
          <a:xfrm>
            <a:off x="2651760" y="21031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89.64%</a:t>
            </a:r>
            <a:endParaRPr lang="en-US" sz="1000" dirty="0"/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D1D46AAC-0D12-1001-91AF-E56F3C7F012A}"/>
              </a:ext>
            </a:extLst>
          </p:cNvPr>
          <p:cNvSpPr/>
          <p:nvPr/>
        </p:nvSpPr>
        <p:spPr>
          <a:xfrm>
            <a:off x="4114800" y="21031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89.83%</a:t>
            </a:r>
            <a:endParaRPr lang="en-US" sz="1000" dirty="0"/>
          </a:p>
        </p:txBody>
      </p:sp>
      <p:sp>
        <p:nvSpPr>
          <p:cNvPr id="66" name="Text 13">
            <a:extLst>
              <a:ext uri="{FF2B5EF4-FFF2-40B4-BE49-F238E27FC236}">
                <a16:creationId xmlns:a16="http://schemas.microsoft.com/office/drawing/2014/main" id="{61EFBF3C-A4ED-7197-EDC4-3522400F6E76}"/>
              </a:ext>
            </a:extLst>
          </p:cNvPr>
          <p:cNvSpPr/>
          <p:nvPr/>
        </p:nvSpPr>
        <p:spPr>
          <a:xfrm>
            <a:off x="5577840" y="21031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89.64%</a:t>
            </a:r>
            <a:endParaRPr lang="en-US" sz="1000" dirty="0"/>
          </a:p>
        </p:txBody>
      </p:sp>
      <p:sp>
        <p:nvSpPr>
          <p:cNvPr id="67" name="Text 14">
            <a:extLst>
              <a:ext uri="{FF2B5EF4-FFF2-40B4-BE49-F238E27FC236}">
                <a16:creationId xmlns:a16="http://schemas.microsoft.com/office/drawing/2014/main" id="{A3F72F50-F0DB-FB5D-63F1-431E350B249F}"/>
              </a:ext>
            </a:extLst>
          </p:cNvPr>
          <p:cNvSpPr/>
          <p:nvPr/>
        </p:nvSpPr>
        <p:spPr>
          <a:xfrm>
            <a:off x="7040880" y="21031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89.65%</a:t>
            </a:r>
            <a:endParaRPr lang="en-US" sz="1000" dirty="0"/>
          </a:p>
        </p:txBody>
      </p:sp>
      <p:sp>
        <p:nvSpPr>
          <p:cNvPr id="68" name="Shape 15">
            <a:extLst>
              <a:ext uri="{FF2B5EF4-FFF2-40B4-BE49-F238E27FC236}">
                <a16:creationId xmlns:a16="http://schemas.microsoft.com/office/drawing/2014/main" id="{E0822B1E-6907-EEDC-BCAC-F71FA6E6B082}"/>
              </a:ext>
            </a:extLst>
          </p:cNvPr>
          <p:cNvSpPr/>
          <p:nvPr/>
        </p:nvSpPr>
        <p:spPr>
          <a:xfrm>
            <a:off x="731520" y="2468880"/>
            <a:ext cx="7680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69" name="Text 16">
            <a:extLst>
              <a:ext uri="{FF2B5EF4-FFF2-40B4-BE49-F238E27FC236}">
                <a16:creationId xmlns:a16="http://schemas.microsoft.com/office/drawing/2014/main" id="{7F20E95E-96B6-CDEC-4EC3-DF23352447B7}"/>
              </a:ext>
            </a:extLst>
          </p:cNvPr>
          <p:cNvSpPr/>
          <p:nvPr/>
        </p:nvSpPr>
        <p:spPr>
          <a:xfrm>
            <a:off x="82296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00" dirty="0"/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BF8B0B39-EDE6-AE48-F9BA-754AD26B634C}"/>
              </a:ext>
            </a:extLst>
          </p:cNvPr>
          <p:cNvSpPr/>
          <p:nvPr/>
        </p:nvSpPr>
        <p:spPr>
          <a:xfrm>
            <a:off x="2651760" y="2468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88.90%</a:t>
            </a:r>
            <a:endParaRPr lang="en-US" sz="1000" dirty="0"/>
          </a:p>
        </p:txBody>
      </p:sp>
      <p:sp>
        <p:nvSpPr>
          <p:cNvPr id="71" name="Text 18">
            <a:extLst>
              <a:ext uri="{FF2B5EF4-FFF2-40B4-BE49-F238E27FC236}">
                <a16:creationId xmlns:a16="http://schemas.microsoft.com/office/drawing/2014/main" id="{F0DB30F2-9686-4B27-0225-A7F87500C3BF}"/>
              </a:ext>
            </a:extLst>
          </p:cNvPr>
          <p:cNvSpPr/>
          <p:nvPr/>
        </p:nvSpPr>
        <p:spPr>
          <a:xfrm>
            <a:off x="4114800" y="2468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89.06%</a:t>
            </a:r>
            <a:endParaRPr lang="en-US" sz="10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76786F60-54F9-7145-2486-0D3BA560B7E0}"/>
              </a:ext>
            </a:extLst>
          </p:cNvPr>
          <p:cNvSpPr/>
          <p:nvPr/>
        </p:nvSpPr>
        <p:spPr>
          <a:xfrm>
            <a:off x="5577840" y="2468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88.90%</a:t>
            </a:r>
            <a:endParaRPr lang="en-US" sz="1000" dirty="0"/>
          </a:p>
        </p:txBody>
      </p:sp>
      <p:sp>
        <p:nvSpPr>
          <p:cNvPr id="73" name="Text 20">
            <a:extLst>
              <a:ext uri="{FF2B5EF4-FFF2-40B4-BE49-F238E27FC236}">
                <a16:creationId xmlns:a16="http://schemas.microsoft.com/office/drawing/2014/main" id="{2702BA1A-1B89-B6BC-6A8A-82DCBCF9FE43}"/>
              </a:ext>
            </a:extLst>
          </p:cNvPr>
          <p:cNvSpPr/>
          <p:nvPr/>
        </p:nvSpPr>
        <p:spPr>
          <a:xfrm>
            <a:off x="7040880" y="2468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88.91%</a:t>
            </a:r>
            <a:endParaRPr lang="en-US" sz="1000" dirty="0"/>
          </a:p>
        </p:txBody>
      </p:sp>
      <p:sp>
        <p:nvSpPr>
          <p:cNvPr id="74" name="Shape 21">
            <a:extLst>
              <a:ext uri="{FF2B5EF4-FFF2-40B4-BE49-F238E27FC236}">
                <a16:creationId xmlns:a16="http://schemas.microsoft.com/office/drawing/2014/main" id="{0CED670D-3001-9B86-D926-C3CDC449514B}"/>
              </a:ext>
            </a:extLst>
          </p:cNvPr>
          <p:cNvSpPr/>
          <p:nvPr/>
        </p:nvSpPr>
        <p:spPr>
          <a:xfrm>
            <a:off x="731520" y="2834640"/>
            <a:ext cx="7680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75" name="Text 22">
            <a:extLst>
              <a:ext uri="{FF2B5EF4-FFF2-40B4-BE49-F238E27FC236}">
                <a16:creationId xmlns:a16="http://schemas.microsoft.com/office/drawing/2014/main" id="{E1E62895-EC25-7A47-8D7F-929D86FC1493}"/>
              </a:ext>
            </a:extLst>
          </p:cNvPr>
          <p:cNvSpPr/>
          <p:nvPr/>
        </p:nvSpPr>
        <p:spPr>
          <a:xfrm>
            <a:off x="82296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000" dirty="0"/>
          </a:p>
        </p:txBody>
      </p:sp>
      <p:sp>
        <p:nvSpPr>
          <p:cNvPr id="76" name="Text 23">
            <a:extLst>
              <a:ext uri="{FF2B5EF4-FFF2-40B4-BE49-F238E27FC236}">
                <a16:creationId xmlns:a16="http://schemas.microsoft.com/office/drawing/2014/main" id="{B29B17C9-DAE6-5567-8D44-CBAE23B2CFE3}"/>
              </a:ext>
            </a:extLst>
          </p:cNvPr>
          <p:cNvSpPr/>
          <p:nvPr/>
        </p:nvSpPr>
        <p:spPr>
          <a:xfrm>
            <a:off x="2651760" y="2834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88.55%</a:t>
            </a:r>
            <a:endParaRPr lang="en-US" sz="10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352BABF2-8394-177E-11BD-F0C43BB0BBEF}"/>
              </a:ext>
            </a:extLst>
          </p:cNvPr>
          <p:cNvSpPr/>
          <p:nvPr/>
        </p:nvSpPr>
        <p:spPr>
          <a:xfrm>
            <a:off x="4114800" y="2834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88.61%</a:t>
            </a:r>
            <a:endParaRPr lang="en-US" sz="1000" dirty="0"/>
          </a:p>
        </p:txBody>
      </p:sp>
      <p:sp>
        <p:nvSpPr>
          <p:cNvPr id="78" name="Text 25">
            <a:extLst>
              <a:ext uri="{FF2B5EF4-FFF2-40B4-BE49-F238E27FC236}">
                <a16:creationId xmlns:a16="http://schemas.microsoft.com/office/drawing/2014/main" id="{AF314E90-22E2-0C14-B97A-918D61329760}"/>
              </a:ext>
            </a:extLst>
          </p:cNvPr>
          <p:cNvSpPr/>
          <p:nvPr/>
        </p:nvSpPr>
        <p:spPr>
          <a:xfrm>
            <a:off x="5577840" y="2834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88.55%</a:t>
            </a:r>
            <a:endParaRPr lang="en-US" sz="1000" dirty="0"/>
          </a:p>
        </p:txBody>
      </p:sp>
      <p:sp>
        <p:nvSpPr>
          <p:cNvPr id="79" name="Text 26">
            <a:extLst>
              <a:ext uri="{FF2B5EF4-FFF2-40B4-BE49-F238E27FC236}">
                <a16:creationId xmlns:a16="http://schemas.microsoft.com/office/drawing/2014/main" id="{544D667E-63E9-B8B7-635E-0F5B45D75F6A}"/>
              </a:ext>
            </a:extLst>
          </p:cNvPr>
          <p:cNvSpPr/>
          <p:nvPr/>
        </p:nvSpPr>
        <p:spPr>
          <a:xfrm>
            <a:off x="7040880" y="2834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88.55%</a:t>
            </a:r>
            <a:endParaRPr lang="en-US" sz="1000" dirty="0"/>
          </a:p>
        </p:txBody>
      </p:sp>
      <p:sp>
        <p:nvSpPr>
          <p:cNvPr id="80" name="Shape 27">
            <a:extLst>
              <a:ext uri="{FF2B5EF4-FFF2-40B4-BE49-F238E27FC236}">
                <a16:creationId xmlns:a16="http://schemas.microsoft.com/office/drawing/2014/main" id="{A6EA188E-F2D4-2D0B-40F4-31DDD2EE065A}"/>
              </a:ext>
            </a:extLst>
          </p:cNvPr>
          <p:cNvSpPr/>
          <p:nvPr/>
        </p:nvSpPr>
        <p:spPr>
          <a:xfrm>
            <a:off x="731520" y="3200400"/>
            <a:ext cx="7680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81" name="Text 28">
            <a:extLst>
              <a:ext uri="{FF2B5EF4-FFF2-40B4-BE49-F238E27FC236}">
                <a16:creationId xmlns:a16="http://schemas.microsoft.com/office/drawing/2014/main" id="{32DAF9F2-9681-1513-2D91-C936FC867C8C}"/>
              </a:ext>
            </a:extLst>
          </p:cNvPr>
          <p:cNvSpPr/>
          <p:nvPr/>
        </p:nvSpPr>
        <p:spPr>
          <a:xfrm>
            <a:off x="82296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82" name="Text 29">
            <a:extLst>
              <a:ext uri="{FF2B5EF4-FFF2-40B4-BE49-F238E27FC236}">
                <a16:creationId xmlns:a16="http://schemas.microsoft.com/office/drawing/2014/main" id="{2FC4BBF2-77DD-98AB-F4E0-8697715AC561}"/>
              </a:ext>
            </a:extLst>
          </p:cNvPr>
          <p:cNvSpPr/>
          <p:nvPr/>
        </p:nvSpPr>
        <p:spPr>
          <a:xfrm>
            <a:off x="2651760" y="3200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86.03%</a:t>
            </a:r>
            <a:endParaRPr lang="en-US" sz="1000" dirty="0"/>
          </a:p>
        </p:txBody>
      </p:sp>
      <p:sp>
        <p:nvSpPr>
          <p:cNvPr id="83" name="Text 30">
            <a:extLst>
              <a:ext uri="{FF2B5EF4-FFF2-40B4-BE49-F238E27FC236}">
                <a16:creationId xmlns:a16="http://schemas.microsoft.com/office/drawing/2014/main" id="{0BE39CE9-EF4A-9922-F52E-31416C5AB079}"/>
              </a:ext>
            </a:extLst>
          </p:cNvPr>
          <p:cNvSpPr/>
          <p:nvPr/>
        </p:nvSpPr>
        <p:spPr>
          <a:xfrm>
            <a:off x="4114800" y="3200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86.52%</a:t>
            </a:r>
            <a:endParaRPr lang="en-US" sz="1000" dirty="0"/>
          </a:p>
        </p:txBody>
      </p:sp>
      <p:sp>
        <p:nvSpPr>
          <p:cNvPr id="84" name="Text 31">
            <a:extLst>
              <a:ext uri="{FF2B5EF4-FFF2-40B4-BE49-F238E27FC236}">
                <a16:creationId xmlns:a16="http://schemas.microsoft.com/office/drawing/2014/main" id="{E20C3390-C692-30DD-7CF6-2EC6A80C1887}"/>
              </a:ext>
            </a:extLst>
          </p:cNvPr>
          <p:cNvSpPr/>
          <p:nvPr/>
        </p:nvSpPr>
        <p:spPr>
          <a:xfrm>
            <a:off x="5577840" y="3200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86.03%</a:t>
            </a:r>
            <a:endParaRPr lang="en-US" sz="1000" dirty="0"/>
          </a:p>
        </p:txBody>
      </p:sp>
      <p:sp>
        <p:nvSpPr>
          <p:cNvPr id="85" name="Text 32">
            <a:extLst>
              <a:ext uri="{FF2B5EF4-FFF2-40B4-BE49-F238E27FC236}">
                <a16:creationId xmlns:a16="http://schemas.microsoft.com/office/drawing/2014/main" id="{FA1C76BE-D641-CE9C-175D-173E0226D6EE}"/>
              </a:ext>
            </a:extLst>
          </p:cNvPr>
          <p:cNvSpPr/>
          <p:nvPr/>
        </p:nvSpPr>
        <p:spPr>
          <a:xfrm>
            <a:off x="7040880" y="3200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86.10%</a:t>
            </a:r>
            <a:endParaRPr lang="en-US" sz="1000" dirty="0"/>
          </a:p>
        </p:txBody>
      </p:sp>
      <p:sp>
        <p:nvSpPr>
          <p:cNvPr id="86" name="Shape 33">
            <a:extLst>
              <a:ext uri="{FF2B5EF4-FFF2-40B4-BE49-F238E27FC236}">
                <a16:creationId xmlns:a16="http://schemas.microsoft.com/office/drawing/2014/main" id="{A14A869C-2907-1D96-F70A-E757D10C4B06}"/>
              </a:ext>
            </a:extLst>
          </p:cNvPr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87" name="Text 34">
            <a:extLst>
              <a:ext uri="{FF2B5EF4-FFF2-40B4-BE49-F238E27FC236}">
                <a16:creationId xmlns:a16="http://schemas.microsoft.com/office/drawing/2014/main" id="{5AC8C528-C366-D5D4-02FF-2374C9AE300E}"/>
              </a:ext>
            </a:extLst>
          </p:cNvPr>
          <p:cNvSpPr/>
          <p:nvPr/>
        </p:nvSpPr>
        <p:spPr>
          <a:xfrm>
            <a:off x="82296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1000" dirty="0"/>
          </a:p>
        </p:txBody>
      </p:sp>
      <p:sp>
        <p:nvSpPr>
          <p:cNvPr id="88" name="Text 35">
            <a:extLst>
              <a:ext uri="{FF2B5EF4-FFF2-40B4-BE49-F238E27FC236}">
                <a16:creationId xmlns:a16="http://schemas.microsoft.com/office/drawing/2014/main" id="{E50F5B6C-9732-470F-EC4E-36E1D0A39A7B}"/>
              </a:ext>
            </a:extLst>
          </p:cNvPr>
          <p:cNvSpPr/>
          <p:nvPr/>
        </p:nvSpPr>
        <p:spPr>
          <a:xfrm>
            <a:off x="2651760" y="3566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77.96%</a:t>
            </a:r>
            <a:endParaRPr lang="en-US" sz="1000" dirty="0"/>
          </a:p>
        </p:txBody>
      </p:sp>
      <p:sp>
        <p:nvSpPr>
          <p:cNvPr id="89" name="Text 36">
            <a:extLst>
              <a:ext uri="{FF2B5EF4-FFF2-40B4-BE49-F238E27FC236}">
                <a16:creationId xmlns:a16="http://schemas.microsoft.com/office/drawing/2014/main" id="{C2D70F88-B58B-DFF3-AAEE-8A0B6E970592}"/>
              </a:ext>
            </a:extLst>
          </p:cNvPr>
          <p:cNvSpPr/>
          <p:nvPr/>
        </p:nvSpPr>
        <p:spPr>
          <a:xfrm>
            <a:off x="4114800" y="3566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78.19%</a:t>
            </a:r>
            <a:endParaRPr lang="en-US" sz="1000" dirty="0"/>
          </a:p>
        </p:txBody>
      </p:sp>
      <p:sp>
        <p:nvSpPr>
          <p:cNvPr id="90" name="Text 37">
            <a:extLst>
              <a:ext uri="{FF2B5EF4-FFF2-40B4-BE49-F238E27FC236}">
                <a16:creationId xmlns:a16="http://schemas.microsoft.com/office/drawing/2014/main" id="{AA739516-0189-1597-D9BB-F1C07F2E6A5C}"/>
              </a:ext>
            </a:extLst>
          </p:cNvPr>
          <p:cNvSpPr/>
          <p:nvPr/>
        </p:nvSpPr>
        <p:spPr>
          <a:xfrm>
            <a:off x="5577840" y="3566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77.96%</a:t>
            </a:r>
            <a:endParaRPr lang="en-US" sz="1000" dirty="0"/>
          </a:p>
        </p:txBody>
      </p:sp>
      <p:sp>
        <p:nvSpPr>
          <p:cNvPr id="91" name="Text 38">
            <a:extLst>
              <a:ext uri="{FF2B5EF4-FFF2-40B4-BE49-F238E27FC236}">
                <a16:creationId xmlns:a16="http://schemas.microsoft.com/office/drawing/2014/main" id="{D01B150E-DACD-E275-EB0E-3CDDF3757C74}"/>
              </a:ext>
            </a:extLst>
          </p:cNvPr>
          <p:cNvSpPr/>
          <p:nvPr/>
        </p:nvSpPr>
        <p:spPr>
          <a:xfrm>
            <a:off x="7040880" y="3566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77.98%</a:t>
            </a:r>
            <a:endParaRPr lang="en-US" sz="1000" dirty="0"/>
          </a:p>
        </p:txBody>
      </p:sp>
      <p:sp>
        <p:nvSpPr>
          <p:cNvPr id="92" name="Shape 39">
            <a:extLst>
              <a:ext uri="{FF2B5EF4-FFF2-40B4-BE49-F238E27FC236}">
                <a16:creationId xmlns:a16="http://schemas.microsoft.com/office/drawing/2014/main" id="{7C382CBE-1E6E-A635-F7A7-836EF6C62561}"/>
              </a:ext>
            </a:extLst>
          </p:cNvPr>
          <p:cNvSpPr/>
          <p:nvPr/>
        </p:nvSpPr>
        <p:spPr>
          <a:xfrm>
            <a:off x="729290" y="4069080"/>
            <a:ext cx="7680960" cy="6400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93" name="Text 40">
            <a:extLst>
              <a:ext uri="{FF2B5EF4-FFF2-40B4-BE49-F238E27FC236}">
                <a16:creationId xmlns:a16="http://schemas.microsoft.com/office/drawing/2014/main" id="{3B3368AB-BCF0-F23F-1B23-7F4D6754FF71}"/>
              </a:ext>
            </a:extLst>
          </p:cNvPr>
          <p:cNvSpPr/>
          <p:nvPr/>
        </p:nvSpPr>
        <p:spPr>
          <a:xfrm>
            <a:off x="912170" y="4114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Data Leakage!</a:t>
            </a:r>
            <a:endParaRPr lang="en-US" sz="1800" dirty="0"/>
          </a:p>
        </p:txBody>
      </p:sp>
      <p:sp>
        <p:nvSpPr>
          <p:cNvPr id="94" name="Text 41">
            <a:extLst>
              <a:ext uri="{FF2B5EF4-FFF2-40B4-BE49-F238E27FC236}">
                <a16:creationId xmlns:a16="http://schemas.microsoft.com/office/drawing/2014/main" id="{2CA3ECB8-2D5D-A171-8B55-BD3347E339AB}"/>
              </a:ext>
            </a:extLst>
          </p:cNvPr>
          <p:cNvSpPr/>
          <p:nvPr/>
        </p:nvSpPr>
        <p:spPr>
          <a:xfrm>
            <a:off x="912170" y="43891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show ~19-22% higher accuracy due to related excerpts in both train and test sets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Analysis: Why the Difference?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2 shows ~10-20% higher accuracy than Protocol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because the model is better - it's data leakage!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7" name="Text 5"/>
          <p:cNvSpPr/>
          <p:nvPr/>
        </p:nvSpPr>
        <p:spPr>
          <a:xfrm>
            <a:off x="914400" y="235915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splitting placed related excerpts (from same original recording) in both training and test sets. Model learned recording-specific patterns instead of generalizable sound patterns.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7680960" cy="640080"/>
          </a:xfrm>
          <a:prstGeom prst="rect">
            <a:avLst/>
          </a:prstGeom>
          <a:solidFill>
            <a:srgbClr val="F7F9F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10" name="Text 8"/>
          <p:cNvSpPr/>
          <p:nvPr/>
        </p:nvSpPr>
        <p:spPr>
          <a:xfrm>
            <a:off x="914400" y="309067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artificially inflated. In real-world deployment on new recordings, model would perform much worse (~10% drop). Results are not comparable to published research.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7680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13" name="Text 11"/>
          <p:cNvSpPr/>
          <p:nvPr/>
        </p:nvSpPr>
        <p:spPr>
          <a:xfrm>
            <a:off x="914400" y="382219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 matters as much as model architecture! Always understand your data structure and design evaluation to match real-world deployment.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480560"/>
            <a:ext cx="7680960" cy="640080"/>
          </a:xfrm>
          <a:prstGeom prst="rect">
            <a:avLst/>
          </a:prstGeom>
          <a:solidFill>
            <a:srgbClr val="F7F9F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16" name="Text 14"/>
          <p:cNvSpPr/>
          <p:nvPr/>
        </p:nvSpPr>
        <p:spPr>
          <a:xfrm>
            <a:off x="914400" y="4553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754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UrbanSound8K: Always use predefined folds.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685800"/>
          </a:xfrm>
          <a:prstGeom prst="rect">
            <a:avLst/>
          </a:prstGeom>
          <a:solidFill>
            <a:srgbClr val="02C39A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4" name="Text 2"/>
          <p:cNvSpPr/>
          <p:nvPr/>
        </p:nvSpPr>
        <p:spPr>
          <a:xfrm>
            <a:off x="914400" y="13533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Enhanced Features = Best Performance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with temporal features (Δ, ΔΔ) consistently outperforms other models by 5-10% on valid evaluation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7680960" cy="685800"/>
          </a:xfrm>
          <a:prstGeom prst="rect">
            <a:avLst/>
          </a:prstGeom>
          <a:solidFill>
            <a:srgbClr val="F7F9F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7" name="Text 5"/>
          <p:cNvSpPr/>
          <p:nvPr/>
        </p:nvSpPr>
        <p:spPr>
          <a:xfrm>
            <a:off x="914400" y="21305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Critical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temporal context (delta coefficients) to baseline features significantly improves all models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7680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10" name="Text 8"/>
          <p:cNvSpPr/>
          <p:nvPr/>
        </p:nvSpPr>
        <p:spPr>
          <a:xfrm>
            <a:off x="914400" y="29077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Protocol Makes 10% Difference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154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 shows inflated performance due to data leakage. Predefined folds give realistic, publication-ready results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7680960" cy="685800"/>
          </a:xfrm>
          <a:prstGeom prst="rect">
            <a:avLst/>
          </a:prstGeom>
          <a:solidFill>
            <a:srgbClr val="F7F9F9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13" name="Text 11"/>
          <p:cNvSpPr/>
          <p:nvPr/>
        </p:nvSpPr>
        <p:spPr>
          <a:xfrm>
            <a:off x="914400" y="3685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Competitive on Audio Features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Feature-based ML (XGBoost ~75%) approaches deep learning performance without GPUs or large datasets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7680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16" name="Text 14"/>
          <p:cNvSpPr/>
          <p:nvPr/>
        </p:nvSpPr>
        <p:spPr>
          <a:xfrm>
            <a:off x="914400" y="44622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Caching Essential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10-100× speedup on repeated experiments enables rapid hyperparameter tuning and model comparison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4" name="Text 2"/>
          <p:cNvSpPr/>
          <p:nvPr/>
        </p:nvSpPr>
        <p:spPr>
          <a:xfrm>
            <a:off x="1737360" y="17830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Feature-based ML remains highly competitive for audio classification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71600" y="237744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6" name="Text 4"/>
          <p:cNvSpPr/>
          <p:nvPr/>
        </p:nvSpPr>
        <p:spPr>
          <a:xfrm>
            <a:off x="1737360" y="2331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evaluation protocol is critical - prevents data leakage and ensures validity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292608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8" name="Text 6"/>
          <p:cNvSpPr/>
          <p:nvPr/>
        </p:nvSpPr>
        <p:spPr>
          <a:xfrm>
            <a:off x="1737360" y="28803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in feature engineering yields strong, interpretable results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71600" y="347472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10" name="Text 8"/>
          <p:cNvSpPr/>
          <p:nvPr/>
        </p:nvSpPr>
        <p:spPr>
          <a:xfrm>
            <a:off x="1737360" y="34290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caching enables rapid experimentation and hyperparameter tuning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71600" y="402336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R"/>
          </a:p>
        </p:txBody>
      </p:sp>
      <p:sp>
        <p:nvSpPr>
          <p:cNvPr id="12" name="Text 10"/>
          <p:cNvSpPr/>
          <p:nvPr/>
        </p:nvSpPr>
        <p:spPr>
          <a:xfrm>
            <a:off x="1737360" y="39776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features tweak: effective, efficient, reproducible approach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286000" y="4297680"/>
            <a:ext cx="45720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GR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2032</Words>
  <Application>Microsoft Macintosh PowerPoint</Application>
  <PresentationFormat>On-screen Show (16:9)</PresentationFormat>
  <Paragraphs>430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Sound Classification - ML Project</dc:title>
  <dc:subject>PptxGenJS Presentation</dc:subject>
  <dc:creator>Kostis Matzorakis, George Manthos, Spiros Batziopoulos</dc:creator>
  <cp:lastModifiedBy>Spyros Batziopoulos | Triparound</cp:lastModifiedBy>
  <cp:revision>7</cp:revision>
  <dcterms:created xsi:type="dcterms:W3CDTF">2026-02-10T07:52:32Z</dcterms:created>
  <dcterms:modified xsi:type="dcterms:W3CDTF">2026-02-11T10:31:14Z</dcterms:modified>
</cp:coreProperties>
</file>